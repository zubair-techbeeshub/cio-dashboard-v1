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05CA-7DE5-4E10-B6A5-7AD86650BB2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2AE20-F856-4023-BE81-30CABBC29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8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2AE20-F856-4023-BE81-30CABBC29B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75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4315-EA4F-D854-1804-D809F974A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72D70-1C6F-1A67-A78D-A9ECAA6D1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8028B-2901-36CD-8E22-81D5621D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D9E5F-9781-65E0-5A8D-01016E610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D9FE3-EF7A-B8A4-29DD-1FEE27567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4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E8FA-E13D-B8D9-63B0-3DBC6478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98DD6-906A-23D7-09AD-6307C6934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F9C70-F982-D582-924D-C005D560A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1FE93-A544-7A59-6CAA-081477790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440CF-A7B8-6783-2648-E1873FE9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2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31F85-D9E7-4BD6-D63F-ECD78B4D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94851-0ABA-8C45-E524-EA74A199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57D90-F12A-E696-C03A-DA9D0E8B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3B6B7-6D0B-23EE-236B-F8949E89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85640-9595-0242-3194-4A34DBDA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4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41AB-D876-8041-3CE9-7796C696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F0A05-C5A6-2077-636E-061226962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0C3E0-7AB8-51F4-57D1-481F25554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1BEA9-EBCB-71DA-13DD-ED00305F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44849-13A4-395D-2616-66E2802A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C28C5-5C58-DE57-C1DD-B6B762FC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2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E1E6-2059-A88E-ADAE-5077C6DA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652AD-52D8-598E-9BB9-34E2D184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A9CD2-1C89-DFFB-2A1E-E8E8F468A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A4E14-E621-D234-FDD4-354FB3813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F891C-E147-3209-2F87-C4B2D5238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F7A389-B6AD-DAF1-BA0E-246889FB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A6FCED-BCE9-23CE-14E0-8CF846E0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0913B-078D-3DEE-AE6C-04191A9C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E8D8-DBF6-D5CE-5A62-FB16BE7B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905DB-03E4-E43E-9890-9F99A7067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29EFB-D7C9-523E-2E48-043D9D50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9D03E-F0D0-1A66-6D68-D07102E2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FFFD9D-6C1A-6563-37FD-5FFBF18A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E4B21-1DBF-C601-A5B2-A965A62E3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AEE4C-E3C0-BA6C-E2B9-2BCC4AF6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6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2E85-B606-EFBD-4479-0222920A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08EFC-B10A-C3F1-D1D6-C18FAB228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A8A36-C979-0935-649D-2CC160394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6B477-ECEA-54E5-5CE3-73569022D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5EF33-9056-61B1-3F37-217C16B07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D1391-DBCD-623B-D213-27571606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9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96D4-9FFD-15E6-4FE5-CB32A20C3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77170-5970-3088-60E3-0C04BCCF6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6B6D8-37E9-2EB1-0F2F-21278100A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C6473-98F8-3D5C-1DD9-7913FFDB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23053-ABF5-5B1D-FFFE-C99718D3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4875E-52B9-EA89-28FA-2B6F237C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7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76CA-4D56-5679-815E-91739FBC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F494D-672F-3CC0-0C0D-DE8CD1203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50877-854A-6418-D96E-D5E181D3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87B5C-E1BB-FD44-C721-3F98D3B3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0FFB2-C90B-9343-6703-853AFF68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3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C15F1-5A85-C936-445D-53F919D0A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D7E9E-71B2-2593-94AE-4B25DBCD5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20804-9B5D-E50F-4139-CC55E814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47F42-B6E2-C6EC-65F3-D405DB1C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0D3CE-98E0-707B-B858-A015C8D5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9DA4A-6EA3-2392-E70F-B5F263F70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BDA9A-08F4-7D45-836D-7A78EDD00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9AA0-72F9-46BD-6987-2A728A791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441C5-21F7-494A-97F4-4D5990E2D2A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1AB3-079F-5250-9620-AFCE9B9B3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6FE4-7D6D-E5D3-2D4C-34C081298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23121-2CF5-4A3C-81C7-019FC055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73F9C7-99D1-BEF5-9C8D-E4B579F23649}"/>
              </a:ext>
            </a:extLst>
          </p:cNvPr>
          <p:cNvSpPr/>
          <p:nvPr/>
        </p:nvSpPr>
        <p:spPr>
          <a:xfrm>
            <a:off x="407057" y="0"/>
            <a:ext cx="5757770" cy="31089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PORTFOLIO SUMMARY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B4D98-BC35-CDEC-0658-B4BD4E830192}"/>
              </a:ext>
            </a:extLst>
          </p:cNvPr>
          <p:cNvSpPr/>
          <p:nvPr/>
        </p:nvSpPr>
        <p:spPr>
          <a:xfrm>
            <a:off x="6434229" y="0"/>
            <a:ext cx="5757770" cy="31089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PORTFOLIO COCKPIT VIEW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120C0B-3599-5C02-115B-76DBF8EE04AB}"/>
              </a:ext>
            </a:extLst>
          </p:cNvPr>
          <p:cNvSpPr/>
          <p:nvPr/>
        </p:nvSpPr>
        <p:spPr>
          <a:xfrm>
            <a:off x="407057" y="3341984"/>
            <a:ext cx="5757770" cy="35160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PROGRAM HEALTH SCORE (PHS)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54BFA8-1136-7F56-D8FF-8FCDC57E5974}"/>
              </a:ext>
            </a:extLst>
          </p:cNvPr>
          <p:cNvSpPr txBox="1"/>
          <p:nvPr/>
        </p:nvSpPr>
        <p:spPr>
          <a:xfrm>
            <a:off x="566338" y="589936"/>
            <a:ext cx="559848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YTD Capital $ Utilization (% of IT Capital Budget)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Target vs. Actual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YTD O&amp;M $ Expenditure (% of Allocated Budget)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Target vs. Actual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YTD FTE Spend (% of Overall Budget)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Target vs. Actual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YTD Consultant Spend (% of Overall Budget)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Target vs. Actual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FE3D1-ABB6-E5E7-C071-C65AA91C3CB0}"/>
              </a:ext>
            </a:extLst>
          </p:cNvPr>
          <p:cNvSpPr txBox="1"/>
          <p:nvPr/>
        </p:nvSpPr>
        <p:spPr>
          <a:xfrm rot="16200000">
            <a:off x="-2614576" y="-301178"/>
            <a:ext cx="5598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STRATEGIC 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5D4C79-F8A4-2EA5-27D3-8A7F016FE6AF}"/>
              </a:ext>
            </a:extLst>
          </p:cNvPr>
          <p:cNvSpPr txBox="1"/>
          <p:nvPr/>
        </p:nvSpPr>
        <p:spPr>
          <a:xfrm rot="16200000">
            <a:off x="-893684" y="4760090"/>
            <a:ext cx="2232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OPERATIONS 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341DA-56FB-7AF3-780E-D3238EBEC495}"/>
              </a:ext>
            </a:extLst>
          </p:cNvPr>
          <p:cNvSpPr txBox="1"/>
          <p:nvPr/>
        </p:nvSpPr>
        <p:spPr>
          <a:xfrm>
            <a:off x="6715501" y="417032"/>
            <a:ext cx="547649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Critical App and Network Status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App1 – App2 etc. (Available/Unavailable) Green/Amber/Red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Security Incidences in last 3 months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(Number and Drill Down)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Security Patch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Critical Application Down Incidences in last 3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Top 3 Projects Status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Budget vs. Actual &amp; Status (Traffic Light Symbols)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IT Procurement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Average # of days taking to issue PO to vendors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A23FA7-1D32-0637-7417-4B2FED974920}"/>
              </a:ext>
            </a:extLst>
          </p:cNvPr>
          <p:cNvSpPr txBox="1"/>
          <p:nvPr/>
        </p:nvSpPr>
        <p:spPr>
          <a:xfrm>
            <a:off x="623045" y="3967951"/>
            <a:ext cx="55984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Operations Technology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Key projects (Budget Spend and Status)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Top 3 issues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Customer Technology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Key projects (Budget Spend and Status)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Top 3 issues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Information Technology/Shared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Key projects (Budget Spend and Status)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Top 3 issues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A368D0-9288-FD6D-BBED-8C4A527722E7}"/>
              </a:ext>
            </a:extLst>
          </p:cNvPr>
          <p:cNvSpPr/>
          <p:nvPr/>
        </p:nvSpPr>
        <p:spPr>
          <a:xfrm>
            <a:off x="6396504" y="3341984"/>
            <a:ext cx="5757770" cy="35160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PEOPLE PRODUCTIVITY SCORE (PPS)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0FE1D-4D3A-FA7F-F197-E2F10CA6B306}"/>
              </a:ext>
            </a:extLst>
          </p:cNvPr>
          <p:cNvSpPr txBox="1"/>
          <p:nvPr/>
        </p:nvSpPr>
        <p:spPr>
          <a:xfrm>
            <a:off x="6612492" y="3967951"/>
            <a:ext cx="55984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Open FTE Resource 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Open Consultant Resource 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FTE Resource Hours Planned vs. Actuals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Consultant Hours Planned vs. Actuals </a:t>
            </a:r>
          </a:p>
        </p:txBody>
      </p:sp>
    </p:spTree>
    <p:extLst>
      <p:ext uri="{BB962C8B-B14F-4D97-AF65-F5344CB8AC3E}">
        <p14:creationId xmlns:p14="http://schemas.microsoft.com/office/powerpoint/2010/main" val="51304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5AAE9-51D5-0B41-3567-4AB526AAF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F72693-60AE-19D1-A7C7-2043001AF6B1}"/>
              </a:ext>
            </a:extLst>
          </p:cNvPr>
          <p:cNvSpPr/>
          <p:nvPr/>
        </p:nvSpPr>
        <p:spPr>
          <a:xfrm>
            <a:off x="407057" y="0"/>
            <a:ext cx="5757770" cy="31089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DELIVERY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9D8EF-FE5F-6DCA-0F21-8497AA92E744}"/>
              </a:ext>
            </a:extLst>
          </p:cNvPr>
          <p:cNvSpPr/>
          <p:nvPr/>
        </p:nvSpPr>
        <p:spPr>
          <a:xfrm>
            <a:off x="6434229" y="0"/>
            <a:ext cx="5757770" cy="31089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9F37D3-2171-E799-8C90-0B5424B52A68}"/>
              </a:ext>
            </a:extLst>
          </p:cNvPr>
          <p:cNvSpPr/>
          <p:nvPr/>
        </p:nvSpPr>
        <p:spPr>
          <a:xfrm>
            <a:off x="407057" y="3341984"/>
            <a:ext cx="5757770" cy="35160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SPEND ANALYSIS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687A80-F1DF-6607-C6DD-76DDE38938C7}"/>
              </a:ext>
            </a:extLst>
          </p:cNvPr>
          <p:cNvSpPr/>
          <p:nvPr/>
        </p:nvSpPr>
        <p:spPr>
          <a:xfrm>
            <a:off x="6434230" y="3341984"/>
            <a:ext cx="5757770" cy="35160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96645-23F9-D01B-481D-77796B749E47}"/>
              </a:ext>
            </a:extLst>
          </p:cNvPr>
          <p:cNvSpPr txBox="1"/>
          <p:nvPr/>
        </p:nvSpPr>
        <p:spPr>
          <a:xfrm>
            <a:off x="566338" y="589936"/>
            <a:ext cx="55984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Leading KPIs for Top 3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Milestone achievement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% completed on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Scope change frequency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Scope changed in last  3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Hours Burn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Resource hours burn rate (planned vs. actual)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Budget Burn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Average # of days in creating WA from procurement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8B2ED-8170-DAF5-F755-72946487F8CA}"/>
              </a:ext>
            </a:extLst>
          </p:cNvPr>
          <p:cNvSpPr txBox="1"/>
          <p:nvPr/>
        </p:nvSpPr>
        <p:spPr>
          <a:xfrm rot="16200000">
            <a:off x="-1067788" y="1147532"/>
            <a:ext cx="2504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DELIVERY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ACE63A-5F38-225D-35E2-C21F457FAA20}"/>
              </a:ext>
            </a:extLst>
          </p:cNvPr>
          <p:cNvSpPr txBox="1"/>
          <p:nvPr/>
        </p:nvSpPr>
        <p:spPr>
          <a:xfrm rot="16200000">
            <a:off x="-967425" y="4686348"/>
            <a:ext cx="237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MAJOR SPEND AREAS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5542D-729F-B178-DD65-8032834C7DE7}"/>
              </a:ext>
            </a:extLst>
          </p:cNvPr>
          <p:cNvSpPr txBox="1"/>
          <p:nvPr/>
        </p:nvSpPr>
        <p:spPr>
          <a:xfrm>
            <a:off x="623045" y="3967951"/>
            <a:ext cx="55984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Key Spend Categories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Category 1 - $ Spend (% of overall budget)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Category 2 - $ Spend (% of overall budget)</a:t>
            </a:r>
          </a:p>
        </p:txBody>
      </p:sp>
    </p:spTree>
    <p:extLst>
      <p:ext uri="{BB962C8B-B14F-4D97-AF65-F5344CB8AC3E}">
        <p14:creationId xmlns:p14="http://schemas.microsoft.com/office/powerpoint/2010/main" val="33410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AI-generated content may be incorrect.">
            <a:extLst>
              <a:ext uri="{FF2B5EF4-FFF2-40B4-BE49-F238E27FC236}">
                <a16:creationId xmlns:a16="http://schemas.microsoft.com/office/drawing/2014/main" id="{83DBF5AB-1867-AEB1-4F79-E085B7234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1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291</Words>
  <PresentationFormat>Widescreen</PresentationFormat>
  <Paragraphs>104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2025-11-23T01:51:45Z</dcterms:created>
  <dcterms:modified xsi:type="dcterms:W3CDTF">2025-11-23T16:01:13Z</dcterms:modified>
</cp:coreProperties>
</file>